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0" r:id="rId4"/>
    <p:sldId id="259" r:id="rId5"/>
    <p:sldId id="263" r:id="rId6"/>
    <p:sldId id="265" r:id="rId7"/>
    <p:sldId id="269" r:id="rId8"/>
    <p:sldId id="258" r:id="rId9"/>
    <p:sldId id="260" r:id="rId10"/>
    <p:sldId id="261" r:id="rId11"/>
    <p:sldId id="262" r:id="rId12"/>
    <p:sldId id="264" r:id="rId13"/>
    <p:sldId id="266" r:id="rId14"/>
    <p:sldId id="267" r:id="rId15"/>
    <p:sldId id="272" r:id="rId16"/>
    <p:sldId id="273" r:id="rId17"/>
    <p:sldId id="26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3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884" autoAdjust="0"/>
  </p:normalViewPr>
  <p:slideViewPr>
    <p:cSldViewPr snapToGrid="0">
      <p:cViewPr varScale="1">
        <p:scale>
          <a:sx n="97" d="100"/>
          <a:sy n="97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04AAB-0187-4F39-A3C3-445085015435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9ECC-2295-4F7B-B00D-8E6011BB80F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582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2026-ban számos kereskedelemmel foglalkozó KKV papíralapon vagy elavult táblázatkezelőkben végzi adminisztrációs feladatait.</a:t>
            </a:r>
          </a:p>
          <a:p>
            <a:r>
              <a:rPr lang="hu-HU" dirty="0"/>
              <a:t>Ide tartozik a rendelések rögzítése, összekészítése és a fuvarlevek kiállítása.</a:t>
            </a:r>
          </a:p>
          <a:p>
            <a:r>
              <a:rPr lang="hu-HU" dirty="0"/>
              <a:t>Ezek a folyamatok időigényesek, hibalehetőségekkel terheltek és a növekvő cégeknél nehezen átláthatóak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89ECC-2295-4F7B-B00D-8E6011BB80FB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71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Rendeléskezelés: Új rendelés rögzítése, Rendelések státuszainak követése, Rendelések összekészítési listájának automatikus generálása, számlázási és szállítási adatok kezelése </a:t>
            </a:r>
          </a:p>
          <a:p>
            <a:r>
              <a:rPr lang="hu-HU" dirty="0"/>
              <a:t>Készletezés: Leltárkezelés, Automatikus készletcsökkentés rendelés teljesítésekor, Minimum készletszint figyelés, riasztás </a:t>
            </a:r>
          </a:p>
          <a:p>
            <a:r>
              <a:rPr lang="hu-HU" dirty="0"/>
              <a:t>Adminisztráció: Felhasználói jogosultságkezelés, Riportok és statisztikák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89ECC-2295-4F7B-B00D-8E6011BB80FB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847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6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89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12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8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8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4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53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2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5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6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95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9BBA7451-0A5F-4312-B4EF-BABEB3C03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59" y="3996250"/>
            <a:ext cx="11471565" cy="2520000"/>
          </a:xfrm>
        </p:spPr>
        <p:txBody>
          <a:bodyPr>
            <a:normAutofit lnSpcReduction="10000"/>
          </a:bodyPr>
          <a:lstStyle/>
          <a:p>
            <a:pPr algn="l"/>
            <a:r>
              <a:rPr lang="hu-HU" b="1" i="1" dirty="0"/>
              <a:t>Rendelés, Értékesítés, Készletezés, Adminisztráció</a:t>
            </a:r>
          </a:p>
          <a:p>
            <a:pPr algn="r"/>
            <a:endParaRPr lang="hu-HU" dirty="0"/>
          </a:p>
          <a:p>
            <a:pPr algn="r"/>
            <a:endParaRPr lang="hu-HU" dirty="0"/>
          </a:p>
          <a:p>
            <a:pPr algn="r"/>
            <a:endParaRPr lang="hu-HU" dirty="0"/>
          </a:p>
          <a:p>
            <a:pPr algn="r"/>
            <a:r>
              <a:rPr lang="hu-HU" dirty="0"/>
              <a:t>Készítette: Csuka Tamás József, Paller Péter Décse</a:t>
            </a:r>
          </a:p>
          <a:p>
            <a:pPr algn="r"/>
            <a:r>
              <a:rPr lang="hu-HU" dirty="0"/>
              <a:t>Támogatta: </a:t>
            </a:r>
            <a:r>
              <a:rPr lang="hu-HU" dirty="0" err="1"/>
              <a:t>WellData</a:t>
            </a:r>
            <a:r>
              <a:rPr lang="hu-HU" dirty="0"/>
              <a:t> Kft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FF25A96-A38C-46AC-BEB6-4704A48A4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6428"/>
            <a:ext cx="85395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5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5BCB00-89DF-4315-B4A5-61166E0A9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Probléma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5B71A9-A213-475E-B1EB-4D03D0BC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Probléma:</a:t>
            </a:r>
          </a:p>
          <a:p>
            <a:pPr lvl="1"/>
            <a:r>
              <a:rPr lang="hu-HU" dirty="0"/>
              <a:t>Sok KKV még papíralapon vagy táblázatokban dolgozik</a:t>
            </a:r>
          </a:p>
          <a:p>
            <a:pPr lvl="1"/>
            <a:r>
              <a:rPr lang="hu-HU" dirty="0"/>
              <a:t>Időigényes és hibalehetőségekkel teli folyamatok</a:t>
            </a:r>
          </a:p>
          <a:p>
            <a:pPr lvl="1"/>
            <a:r>
              <a:rPr lang="hu-HU" dirty="0"/>
              <a:t>Nehezen átlátható működés növekedés esetén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87B3420-837D-475D-B53A-0EC2C469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66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5B2EF8-01D1-482C-A087-1FC46026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213F36-94ED-4E70-AFCF-1EAB5963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Cél:</a:t>
            </a:r>
          </a:p>
          <a:p>
            <a:pPr lvl="1"/>
            <a:r>
              <a:rPr lang="hu-HU" dirty="0"/>
              <a:t>Egy webalapú rendszer fejlesztése, amely segíti a kereskedelmi </a:t>
            </a:r>
            <a:r>
              <a:rPr lang="hu-HU" b="1" dirty="0"/>
              <a:t>kis- és középvállalkozások (KKV-k)</a:t>
            </a:r>
            <a:r>
              <a:rPr lang="hu-HU" dirty="0"/>
              <a:t> adminisztratív és logisztikai folyamatait.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656D3BE-3682-4379-8638-B639411A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21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5BCB00-89DF-4315-B4A5-61166E0A9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5B71A9-A213-475E-B1EB-4D03D0BC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rendszer három fő területet kezel:</a:t>
            </a:r>
          </a:p>
          <a:p>
            <a:pPr marL="685800" lvl="1" indent="-457200">
              <a:buFont typeface="+mj-lt"/>
              <a:buAutoNum type="arabicPeriod"/>
            </a:pPr>
            <a:r>
              <a:rPr lang="hu-HU" dirty="0"/>
              <a:t>Rendeléskezelés</a:t>
            </a:r>
          </a:p>
          <a:p>
            <a:pPr marL="685800" lvl="1" indent="-457200">
              <a:buFont typeface="+mj-lt"/>
              <a:buAutoNum type="arabicPeriod"/>
            </a:pPr>
            <a:r>
              <a:rPr lang="hu-HU" dirty="0"/>
              <a:t>Készletezés</a:t>
            </a:r>
          </a:p>
          <a:p>
            <a:pPr marL="685800" lvl="1" indent="-457200">
              <a:buFont typeface="+mj-lt"/>
              <a:buAutoNum type="arabicPeriod"/>
            </a:pPr>
            <a:r>
              <a:rPr lang="hu-HU" dirty="0"/>
              <a:t>Adminisztráció</a:t>
            </a:r>
          </a:p>
          <a:p>
            <a:r>
              <a:rPr lang="hu-HU" dirty="0"/>
              <a:t>Magyarországi cég adatok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766547B-1333-4229-9230-D7BF1CB41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4098" name="Picture 2" descr="Cégadat API – Integrálható cégadatok">
            <a:extLst>
              <a:ext uri="{FF2B5EF4-FFF2-40B4-BE49-F238E27FC236}">
                <a16:creationId xmlns:a16="http://schemas.microsoft.com/office/drawing/2014/main" id="{A494543A-B68E-4BBB-B44D-A378ECCBB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493" y="2748282"/>
            <a:ext cx="2473731" cy="506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ellData – Marketing adatbázisok">
            <a:extLst>
              <a:ext uri="{FF2B5EF4-FFF2-40B4-BE49-F238E27FC236}">
                <a16:creationId xmlns:a16="http://schemas.microsoft.com/office/drawing/2014/main" id="{3CD74FBC-F439-4EF4-BD51-4343BDC3A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67" b="89524" l="2092" r="98954">
                        <a14:foregroundMark x1="47490" y1="62857" x2="47490" y2="62857"/>
                        <a14:foregroundMark x1="43933" y1="8571" x2="43933" y2="8571"/>
                        <a14:foregroundMark x1="36192" y1="6667" x2="36192" y2="6667"/>
                        <a14:foregroundMark x1="30544" y1="6667" x2="30544" y2="6667"/>
                        <a14:foregroundMark x1="58368" y1="51429" x2="58368" y2="51429"/>
                        <a14:foregroundMark x1="61925" y1="49524" x2="61925" y2="49524"/>
                        <a14:foregroundMark x1="66946" y1="55238" x2="66946" y2="55238"/>
                        <a14:foregroundMark x1="67364" y1="61905" x2="67155" y2="40000"/>
                        <a14:foregroundMark x1="67573" y1="37143" x2="67573" y2="23810"/>
                        <a14:foregroundMark x1="67573" y1="18095" x2="67364" y2="13333"/>
                        <a14:foregroundMark x1="67992" y1="10476" x2="69038" y2="10476"/>
                        <a14:foregroundMark x1="71339" y1="9524" x2="72176" y2="9524"/>
                        <a14:foregroundMark x1="73222" y1="12381" x2="73640" y2="30476"/>
                        <a14:foregroundMark x1="73431" y1="38095" x2="73431" y2="48571"/>
                        <a14:foregroundMark x1="73013" y1="65714" x2="72803" y2="72381"/>
                        <a14:foregroundMark x1="78661" y1="68571" x2="80753" y2="70476"/>
                        <a14:foregroundMark x1="78033" y1="65714" x2="77615" y2="40000"/>
                        <a14:foregroundMark x1="78661" y1="30476" x2="80335" y2="24762"/>
                        <a14:foregroundMark x1="81381" y1="27619" x2="81381" y2="27619"/>
                        <a14:foregroundMark x1="82845" y1="25714" x2="83054" y2="37143"/>
                        <a14:foregroundMark x1="83054" y1="44762" x2="83264" y2="64762"/>
                        <a14:foregroundMark x1="83473" y1="23810" x2="83473" y2="23810"/>
                        <a14:foregroundMark x1="88494" y1="22857" x2="88494" y2="22857"/>
                        <a14:foregroundMark x1="85983" y1="26667" x2="85983" y2="26667"/>
                        <a14:foregroundMark x1="94351" y1="64762" x2="93724" y2="38095"/>
                        <a14:foregroundMark x1="93305" y1="37143" x2="93515" y2="26667"/>
                        <a14:foregroundMark x1="88075" y1="21905" x2="88285" y2="40952"/>
                        <a14:foregroundMark x1="87866" y1="52381" x2="88075" y2="67619"/>
                        <a14:foregroundMark x1="71339" y1="69524" x2="68201" y2="69524"/>
                        <a14:foregroundMark x1="66736" y1="70476" x2="66736" y2="70476"/>
                        <a14:foregroundMark x1="89958" y1="25714" x2="89958" y2="25714"/>
                        <a14:foregroundMark x1="90167" y1="24762" x2="90377" y2="24762"/>
                        <a14:foregroundMark x1="95188" y1="25714" x2="96025" y2="24762"/>
                        <a14:foregroundMark x1="98326" y1="26667" x2="98954" y2="68571"/>
                        <a14:foregroundMark x1="17155" y1="41905" x2="14435" y2="40952"/>
                        <a14:foregroundMark x1="3975" y1="77143" x2="5439" y2="82857"/>
                        <a14:foregroundMark x1="19247" y1="42857" x2="11506" y2="43810"/>
                        <a14:foregroundMark x1="6485" y1="44762" x2="3138" y2="44762"/>
                        <a14:foregroundMark x1="12134" y1="46667" x2="8996" y2="46667"/>
                        <a14:foregroundMark x1="3347" y1="42857" x2="2092" y2="40952"/>
                        <a14:foregroundMark x1="2510" y1="14286" x2="12552" y2="219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493" y="3429000"/>
            <a:ext cx="2473731" cy="54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448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A2C625-E5D0-4D57-9344-D960B326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Csapatmunka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41DC482-5184-4D16-8171-23C6C886A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F5AC26D-D79F-454B-8B37-C60CEA5EB9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9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CCEA94-6D2B-4544-8D09-128CB9A0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Feladatok felosztása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F7DF4516-0EEF-4AFC-9EC0-BFE62AA0C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919" y="4055046"/>
            <a:ext cx="4754880" cy="743094"/>
          </a:xfrm>
        </p:spPr>
        <p:txBody>
          <a:bodyPr>
            <a:normAutofit/>
          </a:bodyPr>
          <a:lstStyle/>
          <a:p>
            <a:r>
              <a:rPr lang="hu-HU" dirty="0"/>
              <a:t>Csuka Tamás József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B13D6331-A17C-43C2-90FE-C03EDC171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7008" y="4798142"/>
            <a:ext cx="4754880" cy="1424584"/>
          </a:xfrm>
        </p:spPr>
        <p:txBody>
          <a:bodyPr/>
          <a:lstStyle/>
          <a:p>
            <a:r>
              <a:rPr lang="hu-HU" dirty="0"/>
              <a:t>Frontend</a:t>
            </a:r>
          </a:p>
          <a:p>
            <a:r>
              <a:rPr lang="hu-HU" dirty="0"/>
              <a:t>Design/UI</a:t>
            </a:r>
          </a:p>
          <a:p>
            <a:r>
              <a:rPr lang="hu-HU" dirty="0"/>
              <a:t>Logó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B73DDD0E-4E99-4524-8866-62B68A816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1230" y="4055046"/>
            <a:ext cx="4754880" cy="743094"/>
          </a:xfrm>
        </p:spPr>
        <p:txBody>
          <a:bodyPr>
            <a:normAutofit/>
          </a:bodyPr>
          <a:lstStyle/>
          <a:p>
            <a:r>
              <a:rPr lang="hu-HU" dirty="0"/>
              <a:t>Paller Péter Décse</a:t>
            </a:r>
          </a:p>
        </p:txBody>
      </p:sp>
      <p:sp>
        <p:nvSpPr>
          <p:cNvPr id="12" name="Tartalom helye 11">
            <a:extLst>
              <a:ext uri="{FF2B5EF4-FFF2-40B4-BE49-F238E27FC236}">
                <a16:creationId xmlns:a16="http://schemas.microsoft.com/office/drawing/2014/main" id="{A5E46CDC-E251-459C-AF7F-2ECE7D8E2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1230" y="4798140"/>
            <a:ext cx="4754880" cy="1424584"/>
          </a:xfrm>
        </p:spPr>
        <p:txBody>
          <a:bodyPr/>
          <a:lstStyle/>
          <a:p>
            <a:r>
              <a:rPr lang="hu-HU" dirty="0"/>
              <a:t>Backend</a:t>
            </a:r>
          </a:p>
          <a:p>
            <a:r>
              <a:rPr lang="hu-HU" dirty="0"/>
              <a:t>Adatbázis</a:t>
            </a:r>
          </a:p>
          <a:p>
            <a:r>
              <a:rPr lang="hu-HU" dirty="0"/>
              <a:t>Dokumentációk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51D7F14-2011-4013-89A1-D02E23E34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E738F2A3-8F0B-4E99-B840-EF3D4A746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837785"/>
            <a:ext cx="1496863" cy="221726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2649F75-54CB-AD31-EAF7-08904494B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203" y="1836695"/>
            <a:ext cx="1497600" cy="221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2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B0A38C-899F-4809-9705-76A0B6F2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Megvalósítás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B234CC-4FAD-4202-B150-304D9532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GitHub</a:t>
            </a:r>
          </a:p>
          <a:p>
            <a:r>
              <a:rPr lang="hu-HU" dirty="0"/>
              <a:t>Személyes kapcsolattartás</a:t>
            </a:r>
          </a:p>
          <a:p>
            <a:r>
              <a:rPr lang="hu-HU" dirty="0"/>
              <a:t>Messenger</a:t>
            </a:r>
          </a:p>
          <a:p>
            <a:r>
              <a:rPr lang="hu-HU" dirty="0" err="1"/>
              <a:t>Gmail</a:t>
            </a: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C484849-DCE8-41E9-833C-48F9C06D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552BC6B-39BD-4DC1-8F74-351231AB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356" y="1958452"/>
            <a:ext cx="1374509" cy="1374509"/>
          </a:xfrm>
          <a:prstGeom prst="rect">
            <a:avLst/>
          </a:prstGeom>
        </p:spPr>
      </p:pic>
      <p:pic>
        <p:nvPicPr>
          <p:cNvPr id="2050" name="Picture 2" descr="Messenger Icon. Messenger social media logo. 31737177 PNG">
            <a:extLst>
              <a:ext uri="{FF2B5EF4-FFF2-40B4-BE49-F238E27FC236}">
                <a16:creationId xmlns:a16="http://schemas.microsoft.com/office/drawing/2014/main" id="{CD70CE02-C300-43C0-B1F7-93FCA98F8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38878" y1="49898" x2="38878" y2="49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678" y="2528901"/>
            <a:ext cx="1800197" cy="180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mail Comments - Google Mail Logo Black And White - Free Transparent PNG  Download - PNGkey">
            <a:extLst>
              <a:ext uri="{FF2B5EF4-FFF2-40B4-BE49-F238E27FC236}">
                <a16:creationId xmlns:a16="http://schemas.microsoft.com/office/drawing/2014/main" id="{C4A9D5B6-A2B7-40E7-A3AA-7B21DA1CB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52" b="99209" l="2805" r="98049">
                        <a14:foregroundMark x1="7073" y1="28323" x2="7073" y2="28323"/>
                        <a14:foregroundMark x1="8049" y1="58386" x2="7317" y2="41614"/>
                        <a14:foregroundMark x1="5244" y1="74051" x2="4878" y2="62184"/>
                        <a14:foregroundMark x1="5976" y1="84019" x2="7195" y2="68987"/>
                        <a14:foregroundMark x1="6220" y1="91297" x2="6551" y2="96665"/>
                        <a14:foregroundMark x1="7561" y1="89873" x2="7317" y2="89082"/>
                        <a14:foregroundMark x1="7439" y1="91930" x2="6341" y2="90348"/>
                        <a14:foregroundMark x1="7927" y1="93829" x2="4268" y2="87342"/>
                        <a14:foregroundMark x1="4512" y1="92563" x2="6341" y2="26582"/>
                        <a14:foregroundMark x1="6341" y1="26582" x2="8537" y2="19304"/>
                        <a14:foregroundMark x1="8537" y1="19304" x2="49024" y2="52057"/>
                        <a14:foregroundMark x1="49024" y1="52057" x2="60244" y2="48734"/>
                        <a14:foregroundMark x1="60244" y1="48734" x2="83659" y2="26424"/>
                        <a14:foregroundMark x1="83659" y1="26424" x2="90854" y2="25791"/>
                        <a14:foregroundMark x1="90854" y1="25791" x2="94634" y2="56487"/>
                        <a14:foregroundMark x1="94634" y1="56487" x2="94268" y2="84652"/>
                        <a14:foregroundMark x1="97561" y1="89399" x2="98049" y2="87975"/>
                        <a14:foregroundMark x1="5366" y1="87500" x2="2805" y2="81804"/>
                        <a14:backgroundMark x1="32927" y1="66614" x2="32927" y2="66614"/>
                        <a14:backgroundMark x1="6220" y1="98259" x2="7073" y2="98259"/>
                        <a14:backgroundMark x1="5732" y1="98101" x2="6829" y2="984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875" y="3551705"/>
            <a:ext cx="1459472" cy="112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559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DBFA4C-6CAA-4062-8EE9-523E5349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Program felépítése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0CACD6F-F174-42E1-8AB0-586B6384C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6235907-72D9-48B5-8931-78690103B1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36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1B7EAA-8ED1-4108-B800-32C6CC05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7E9A83-9A18-4295-9977-1301A8B2A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Javascript</a:t>
            </a:r>
            <a:r>
              <a:rPr lang="hu-HU" dirty="0"/>
              <a:t>-keretrendszer: Vue.js</a:t>
            </a:r>
          </a:p>
          <a:p>
            <a:r>
              <a:rPr lang="hu-HU" dirty="0"/>
              <a:t>UI: </a:t>
            </a:r>
            <a:r>
              <a:rPr lang="hu-HU" dirty="0" err="1"/>
              <a:t>Bootstrap</a:t>
            </a:r>
            <a:r>
              <a:rPr lang="hu-HU" dirty="0"/>
              <a:t>, </a:t>
            </a:r>
            <a:r>
              <a:rPr lang="hu-HU" dirty="0" err="1"/>
              <a:t>Heroicons</a:t>
            </a:r>
            <a:endParaRPr lang="hu-HU" dirty="0"/>
          </a:p>
          <a:p>
            <a:r>
              <a:rPr lang="hu-HU" dirty="0"/>
              <a:t>Backend kapcsolat: </a:t>
            </a:r>
            <a:r>
              <a:rPr lang="hu-HU" dirty="0" err="1"/>
              <a:t>Axios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03E23FA-3C9A-4A67-920E-8D88EDB52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FFEA45A-FA84-41A8-8B3B-4E591A575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7667" r="93167">
                        <a14:foregroundMark x1="10333" y1="37500" x2="7667" y2="35000"/>
                        <a14:foregroundMark x1="48500" y1="44833" x2="48500" y2="44833"/>
                        <a14:foregroundMark x1="55833" y1="46333" x2="55833" y2="46333"/>
                        <a14:foregroundMark x1="55833" y1="46333" x2="55833" y2="46333"/>
                        <a14:foregroundMark x1="59833" y1="49333" x2="59833" y2="49333"/>
                        <a14:foregroundMark x1="60000" y1="50833" x2="60000" y2="50833"/>
                        <a14:foregroundMark x1="59500" y1="51500" x2="59500" y2="51500"/>
                        <a14:foregroundMark x1="59500" y1="53500" x2="59500" y2="53500"/>
                        <a14:foregroundMark x1="55833" y1="45333" x2="55500" y2="46167"/>
                        <a14:foregroundMark x1="55000" y1="48000" x2="54667" y2="49167"/>
                        <a14:foregroundMark x1="50000" y1="48000" x2="50333" y2="49667"/>
                        <a14:foregroundMark x1="48167" y1="45333" x2="48833" y2="46167"/>
                        <a14:foregroundMark x1="47833" y1="42667" x2="48167" y2="44000"/>
                        <a14:foregroundMark x1="60333" y1="55000" x2="61167" y2="55333"/>
                        <a14:foregroundMark x1="70167" y1="50833" x2="70833" y2="52833"/>
                        <a14:foregroundMark x1="81167" y1="55167" x2="80667" y2="55500"/>
                        <a14:foregroundMark x1="84833" y1="51167" x2="84667" y2="53833"/>
                        <a14:foregroundMark x1="85000" y1="41667" x2="84500" y2="41500"/>
                        <a14:foregroundMark x1="88000" y1="48500" x2="89500" y2="50333"/>
                        <a14:foregroundMark x1="89333" y1="47000" x2="88500" y2="47500"/>
                        <a14:foregroundMark x1="93000" y1="46667" x2="93167" y2="46833"/>
                        <a14:foregroundMark x1="47833" y1="42833" x2="48667" y2="45167"/>
                        <a14:foregroundMark x1="51667" y1="53833" x2="52667" y2="54500"/>
                        <a14:foregroundMark x1="23833" y1="41833" x2="22833" y2="418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3461" y="1979725"/>
            <a:ext cx="2085737" cy="2085737"/>
          </a:xfrm>
          <a:prstGeom prst="rect">
            <a:avLst/>
          </a:prstGeom>
        </p:spPr>
      </p:pic>
      <p:pic>
        <p:nvPicPr>
          <p:cNvPr id="14" name="Ábra 13">
            <a:extLst>
              <a:ext uri="{FF2B5EF4-FFF2-40B4-BE49-F238E27FC236}">
                <a16:creationId xmlns:a16="http://schemas.microsoft.com/office/drawing/2014/main" id="{EDED1B2F-3101-4A69-8BA5-8A026CD1B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4774" y="4001137"/>
            <a:ext cx="1431283" cy="114055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315D4603-0A62-4BDB-AA5C-558FB9190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314" y="1794814"/>
            <a:ext cx="1556255" cy="415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07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7A394C-08C6-4733-8683-DF32A5E3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580785-C82D-4D70-8F17-4BD29507C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Node.js [v22.x]</a:t>
            </a:r>
          </a:p>
          <a:p>
            <a:r>
              <a:rPr lang="hu-HU" dirty="0" err="1"/>
              <a:t>WebAPI</a:t>
            </a:r>
            <a:endParaRPr lang="hu-HU" dirty="0"/>
          </a:p>
          <a:p>
            <a:r>
              <a:rPr lang="hu-HU" dirty="0" err="1"/>
              <a:t>Autentikáció</a:t>
            </a:r>
            <a:r>
              <a:rPr lang="hu-HU" dirty="0"/>
              <a:t>:</a:t>
            </a:r>
          </a:p>
          <a:p>
            <a:pPr lvl="1"/>
            <a:r>
              <a:rPr lang="hu-HU" dirty="0"/>
              <a:t>JWT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35819B3-278C-4397-A7D1-2FB9090F2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32F26E4-F4D6-4F58-ACCD-2BC8DAA9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195" y="1792936"/>
            <a:ext cx="2097038" cy="383251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4E9E175-1AFF-4228-9FFA-AB6AB558D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125" l="10000" r="90000">
                        <a14:foregroundMark x1="25250" y1="25750" x2="25250" y2="25750"/>
                        <a14:foregroundMark x1="39375" y1="28250" x2="39375" y2="28250"/>
                        <a14:foregroundMark x1="56000" y1="28500" x2="56000" y2="28500"/>
                        <a14:foregroundMark x1="78000" y1="32500" x2="78000" y2="32500"/>
                        <a14:foregroundMark x1="79875" y1="28875" x2="79875" y2="28875"/>
                        <a14:foregroundMark x1="84250" y1="43500" x2="84250" y2="43500"/>
                        <a14:foregroundMark x1="87125" y1="44625" x2="87125" y2="44625"/>
                        <a14:foregroundMark x1="86750" y1="44250" x2="86750" y2="44250"/>
                        <a14:foregroundMark x1="61750" y1="71500" x2="61750" y2="71500"/>
                        <a14:foregroundMark x1="49750" y1="90125" x2="49750" y2="90125"/>
                        <a14:foregroundMark x1="77875" y1="32375" x2="77875" y2="32375"/>
                        <a14:foregroundMark x1="79125" y1="33125" x2="75875" y2="29875"/>
                        <a14:foregroundMark x1="87000" y1="44125" x2="86375" y2="41750"/>
                        <a14:foregroundMark x1="74625" y1="28500" x2="76500" y2="25500"/>
                        <a14:foregroundMark x1="86750" y1="45500" x2="86000" y2="46125"/>
                        <a14:foregroundMark x1="82000" y1="47125" x2="81125" y2="46250"/>
                        <a14:foregroundMark x1="57500" y1="31750" x2="57500" y2="31750"/>
                        <a14:foregroundMark x1="57500" y1="31750" x2="54875" y2="28000"/>
                        <a14:foregroundMark x1="81125" y1="46125" x2="80625" y2="45125"/>
                        <a14:foregroundMark x1="57375" y1="30500" x2="62375" y2="33000"/>
                        <a14:foregroundMark x1="80125" y1="43375" x2="80125" y2="43375"/>
                        <a14:foregroundMark x1="81500" y1="40875" x2="81500" y2="40875"/>
                        <a14:foregroundMark x1="25250" y1="30250" x2="25250" y2="30250"/>
                        <a14:foregroundMark x1="23500" y1="26875" x2="23500" y2="26875"/>
                        <a14:foregroundMark x1="18000" y1="24500" x2="18000" y2="24500"/>
                        <a14:foregroundMark x1="16000" y1="25000" x2="16000" y2="25000"/>
                        <a14:foregroundMark x1="84375" y1="40500" x2="84375" y2="40500"/>
                        <a14:backgroundMark x1="83500" y1="42750" x2="83500" y2="42750"/>
                        <a14:backgroundMark x1="82000" y1="47375" x2="82000" y2="47375"/>
                        <a14:backgroundMark x1="81750" y1="47250" x2="81750" y2="47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6162" y="4558726"/>
            <a:ext cx="1659194" cy="1659194"/>
          </a:xfrm>
          <a:prstGeom prst="rect">
            <a:avLst/>
          </a:prstGeom>
        </p:spPr>
      </p:pic>
      <p:pic>
        <p:nvPicPr>
          <p:cNvPr id="1030" name="Picture 6" descr="Jwt Icons and Symbols - Download Free PNG &amp; SVG">
            <a:extLst>
              <a:ext uri="{FF2B5EF4-FFF2-40B4-BE49-F238E27FC236}">
                <a16:creationId xmlns:a16="http://schemas.microsoft.com/office/drawing/2014/main" id="{6CEF3409-19DA-4AB1-B192-24671628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162" y="2329937"/>
            <a:ext cx="1910532" cy="191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99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96F8A1-EA73-49F9-8B46-ADC46DCB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12DF51-D2E3-4591-B5F0-331637F7C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Relációs adatbázis</a:t>
            </a:r>
          </a:p>
          <a:p>
            <a:r>
              <a:rPr lang="hu-HU" dirty="0"/>
              <a:t> 9 táblával</a:t>
            </a:r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4923FCFD-8B78-4EF7-9E5D-8883F28D5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-121133"/>
            <a:ext cx="5861067" cy="676179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30ED30B-7DED-4781-A72C-69D915F4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74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90F1C4-F976-42A1-97ED-66D6B609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Teszt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3F902DA-9191-4CBE-A40F-1673EBC75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34D8831-0F99-4888-8E97-41B0AED67D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83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1B7EAA-8ED1-4108-B800-32C6CC05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7E9A83-9A18-4295-9977-1301A8B2A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Selenium-WebDriver</a:t>
            </a:r>
            <a:r>
              <a:rPr lang="hu-HU" dirty="0"/>
              <a:t>: automatizált tesztelés</a:t>
            </a:r>
          </a:p>
          <a:p>
            <a:r>
              <a:rPr lang="hu-HU" dirty="0"/>
              <a:t>Firefox-ban futó tesztesetek</a:t>
            </a:r>
          </a:p>
          <a:p>
            <a:r>
              <a:rPr lang="hu-HU" dirty="0"/>
              <a:t>Cél: funkciók és a felület tesztelése</a:t>
            </a:r>
          </a:p>
          <a:p>
            <a:r>
              <a:rPr lang="hu-HU" dirty="0"/>
              <a:t>Tesztelésre került pl. regisztráció vagy oldal menüpontok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A4BDCD7-1D4D-4F49-B0DB-B1448C90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2A525F8-9C40-436D-9717-02FD1955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54" y="2011680"/>
            <a:ext cx="1693764" cy="185104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F09C4B7-2EB4-43EC-B7B7-7319B181A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801" y="4064257"/>
            <a:ext cx="1107869" cy="110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6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7A394C-08C6-4733-8683-DF32A5E3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580785-C82D-4D70-8F17-4BD29507C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Postman</a:t>
            </a:r>
          </a:p>
          <a:p>
            <a:r>
              <a:rPr lang="hu-HU" dirty="0"/>
              <a:t>Minden végpont</a:t>
            </a:r>
          </a:p>
          <a:p>
            <a:r>
              <a:rPr lang="hu-HU" dirty="0"/>
              <a:t>Ideiglenes adatbázis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38059F4-7B76-4626-8745-B91F718A1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  <p:pic>
        <p:nvPicPr>
          <p:cNvPr id="3074" name="Picture 2" descr="Postman Logo Vector Download | Logowik">
            <a:extLst>
              <a:ext uri="{FF2B5EF4-FFF2-40B4-BE49-F238E27FC236}">
                <a16:creationId xmlns:a16="http://schemas.microsoft.com/office/drawing/2014/main" id="{115B8B04-D38E-430D-953F-5F77A409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187" y1="50308" x2="43187" y2="50308"/>
                        <a14:foregroundMark x1="49885" y1="51231" x2="49885" y2="51231"/>
                        <a14:foregroundMark x1="58083" y1="49692" x2="58083" y2="49692"/>
                        <a14:foregroundMark x1="64896" y1="47692" x2="64896" y2="47692"/>
                        <a14:foregroundMark x1="69861" y1="49385" x2="69861" y2="49385"/>
                        <a14:foregroundMark x1="78060" y1="51692" x2="78060" y2="51692"/>
                        <a14:foregroundMark x1="84758" y1="50769" x2="84758" y2="50769"/>
                        <a14:foregroundMark x1="29330" y1="40000" x2="29330" y2="40000"/>
                        <a14:foregroundMark x1="25173" y1="46000" x2="25173" y2="46000"/>
                        <a14:foregroundMark x1="26328" y1="49077" x2="26328" y2="49077"/>
                        <a14:foregroundMark x1="25404" y1="52769" x2="25404" y2="52769"/>
                        <a14:foregroundMark x1="18938" y1="54000" x2="18938" y2="54000"/>
                        <a14:foregroundMark x1="21363" y1="56308" x2="21363" y2="56308"/>
                        <a14:foregroundMark x1="32102" y1="41385" x2="32102" y2="41385"/>
                        <a14:foregroundMark x1="20785" y1="55538" x2="20785" y2="55538"/>
                        <a14:foregroundMark x1="20439" y1="59538" x2="20439" y2="59538"/>
                        <a14:foregroundMark x1="13626" y1="66615" x2="13626" y2="66615"/>
                        <a14:backgroundMark x1="44919" y1="48615" x2="44919" y2="48615"/>
                        <a14:backgroundMark x1="79330" y1="50615" x2="79330" y2="50615"/>
                        <a14:backgroundMark x1="87413" y1="51077" x2="87413" y2="51077"/>
                        <a14:backgroundMark x1="14550" y1="66154" x2="14550" y2="66154"/>
                        <a14:backgroundMark x1="14203" y1="65692" x2="14203" y2="65692"/>
                        <a14:backgroundMark x1="19977" y1="60769" x2="19977" y2="60769"/>
                        <a14:backgroundMark x1="20785" y1="59846" x2="20785" y2="59846"/>
                        <a14:backgroundMark x1="19400" y1="61538" x2="19400" y2="61538"/>
                        <a14:backgroundMark x1="21247" y1="59385" x2="21247" y2="59385"/>
                        <a14:backgroundMark x1="22286" y1="58154" x2="22286" y2="58154"/>
                        <a14:backgroundMark x1="22864" y1="57385" x2="22864" y2="57385"/>
                        <a14:backgroundMark x1="26443" y1="52769" x2="26443" y2="52769"/>
                        <a14:backgroundMark x1="27252" y1="51231" x2="27252" y2="51231"/>
                        <a14:backgroundMark x1="25289" y1="44000" x2="25289" y2="44000"/>
                        <a14:backgroundMark x1="24249" y1="45077" x2="24249" y2="45077"/>
                        <a14:backgroundMark x1="22171" y1="47385" x2="22171" y2="47385"/>
                        <a14:backgroundMark x1="17436" y1="54308" x2="17436" y2="54308"/>
                        <a14:backgroundMark x1="22171" y1="56000" x2="22171" y2="56000"/>
                        <a14:backgroundMark x1="21363" y1="56154" x2="21363" y2="56154"/>
                        <a14:backgroundMark x1="24018" y1="53538" x2="24018" y2="53538"/>
                        <a14:backgroundMark x1="32102" y1="45077" x2="32102" y2="45077"/>
                        <a14:backgroundMark x1="32910" y1="41692" x2="32910" y2="41692"/>
                        <a14:backgroundMark x1="30831" y1="43385" x2="30831" y2="43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495" y="4535474"/>
            <a:ext cx="2715709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EA4B2BF7-1510-4F80-A8DA-F68630B40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57" y="1871352"/>
            <a:ext cx="3105583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90F1C4-F976-42A1-97ED-66D6B609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lehetőségek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3F902DA-9191-4CBE-A40F-1673EBC75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00B6B8A-73CC-4A09-B697-1D1E9AAD0E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51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7A394C-08C6-4733-8683-DF32A5E3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580785-C82D-4D70-8F17-4BD29507C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Teljeskörű raktár kezelés</a:t>
            </a:r>
          </a:p>
          <a:p>
            <a:r>
              <a:rPr lang="hu-HU" dirty="0"/>
              <a:t>Nemzeti Adó- és Vámhivatal által elfogadott bármely nemű pénzügyi dokumentum kiállítás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39492B1-CAAA-40F8-82C3-824B359D5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99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84D067-9050-4E87-80B9-A68BE769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CF6A9AC-FC66-46C4-8BD8-5A4026D33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35999F0-6930-4009-931F-5458DE4643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28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1EE3CA-320B-4F4D-B4A4-D3460DE5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9A2973-5702-4609-B1CB-E4ABEEC1D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9B76524-D016-47ED-AA5B-330AB814E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142" y="6134043"/>
            <a:ext cx="243985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02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ávos">
  <a:themeElements>
    <a:clrScheme name="8. egyéni séma">
      <a:dk1>
        <a:srgbClr val="00C6BB"/>
      </a:dk1>
      <a:lt1>
        <a:srgbClr val="00968D"/>
      </a:lt1>
      <a:dk2>
        <a:srgbClr val="D3D3D3"/>
      </a:dk2>
      <a:lt2>
        <a:srgbClr val="F8F9FA"/>
      </a:lt2>
      <a:accent1>
        <a:srgbClr val="003632"/>
      </a:accent1>
      <a:accent2>
        <a:srgbClr val="004D48"/>
      </a:accent2>
      <a:accent3>
        <a:srgbClr val="007D75"/>
      </a:accent3>
      <a:accent4>
        <a:srgbClr val="00968D"/>
      </a:accent4>
      <a:accent5>
        <a:srgbClr val="00B0A5"/>
      </a:accent5>
      <a:accent6>
        <a:srgbClr val="33C2B9"/>
      </a:accent6>
      <a:hlink>
        <a:srgbClr val="00C6BB"/>
      </a:hlink>
      <a:folHlink>
        <a:srgbClr val="003632"/>
      </a:folHlink>
    </a:clrScheme>
    <a:fontScheme name="Sávo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ávo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6. egyéni séma">
    <a:dk1>
      <a:srgbClr val="F8F9FA"/>
    </a:dk1>
    <a:lt1>
      <a:srgbClr val="D3D3D3"/>
    </a:lt1>
    <a:dk2>
      <a:srgbClr val="00968D"/>
    </a:dk2>
    <a:lt2>
      <a:srgbClr val="00C6BB"/>
    </a:lt2>
    <a:accent1>
      <a:srgbClr val="003632"/>
    </a:accent1>
    <a:accent2>
      <a:srgbClr val="004D48"/>
    </a:accent2>
    <a:accent3>
      <a:srgbClr val="007D75"/>
    </a:accent3>
    <a:accent4>
      <a:srgbClr val="00968D"/>
    </a:accent4>
    <a:accent5>
      <a:srgbClr val="00B0A5"/>
    </a:accent5>
    <a:accent6>
      <a:srgbClr val="33C2B9"/>
    </a:accent6>
    <a:hlink>
      <a:srgbClr val="00C6BB"/>
    </a:hlink>
    <a:folHlink>
      <a:srgbClr val="00363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TM03090430[[fn=Sávos]]</Template>
  <TotalTime>0</TotalTime>
  <Words>270</Words>
  <Application>Microsoft Office PowerPoint</Application>
  <PresentationFormat>Szélesvásznú</PresentationFormat>
  <Paragraphs>71</Paragraphs>
  <Slides>18</Slides>
  <Notes>2</Notes>
  <HiddenSlides>1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2" baseType="lpstr">
      <vt:lpstr>Calibri</vt:lpstr>
      <vt:lpstr>Corbel</vt:lpstr>
      <vt:lpstr>Wingdings</vt:lpstr>
      <vt:lpstr>Sávos</vt:lpstr>
      <vt:lpstr>PowerPoint-bemutató</vt:lpstr>
      <vt:lpstr>Probléma</vt:lpstr>
      <vt:lpstr>Cél</vt:lpstr>
      <vt:lpstr>Funkciók</vt:lpstr>
      <vt:lpstr>Csapatmunka</vt:lpstr>
      <vt:lpstr>Feladatok felosztása</vt:lpstr>
      <vt:lpstr>Megvalósítás</vt:lpstr>
      <vt:lpstr>Program felépítése</vt:lpstr>
      <vt:lpstr>Frontend</vt:lpstr>
      <vt:lpstr>Backend</vt:lpstr>
      <vt:lpstr>Adatbázis</vt:lpstr>
      <vt:lpstr>Teszt</vt:lpstr>
      <vt:lpstr>Frontend</vt:lpstr>
      <vt:lpstr>Backend</vt:lpstr>
      <vt:lpstr>Fejlesztési lehetőségek</vt:lpstr>
      <vt:lpstr>PowerPoint-bemutató</vt:lpstr>
      <vt:lpstr>Köszönjük a Figyelmet!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Paller Péter</dc:creator>
  <cp:lastModifiedBy>Csuka Tamás</cp:lastModifiedBy>
  <cp:revision>49</cp:revision>
  <dcterms:created xsi:type="dcterms:W3CDTF">2026-03-03T11:11:27Z</dcterms:created>
  <dcterms:modified xsi:type="dcterms:W3CDTF">2026-04-17T07:51:41Z</dcterms:modified>
</cp:coreProperties>
</file>